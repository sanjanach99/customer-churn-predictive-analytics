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embeddedFontLst>
    <p:embeddedFont>
      <p:font typeface="Gelasio" panose="020B0604020202020204" charset="0"/>
      <p:regular r:id="rId6"/>
    </p:embeddedFont>
    <p:embeddedFont>
      <p:font typeface="Gelasio SemiBold" panose="020B0604020202020204" charset="0"/>
      <p:regular r:id="rId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71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03709"/>
            <a:ext cx="1433215" cy="266402"/>
          </a:xfrm>
          <a:prstGeom prst="roundRect">
            <a:avLst>
              <a:gd name="adj" fmla="val 6386"/>
            </a:avLst>
          </a:prstGeom>
          <a:solidFill>
            <a:srgbClr val="ECE6DF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46199"/>
            <a:ext cx="172030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EXECUTIVE SUMMARY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26815"/>
            <a:ext cx="648585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Telecom Customer Churn Analysis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482403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Analyzed </a:t>
            </a:r>
            <a:r>
              <a:rPr lang="en-US" sz="11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6,418 customers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to identify attrition drivers, build an </a:t>
            </a:r>
            <a:r>
              <a:rPr lang="en-US" sz="11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84% accurate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predictive model, and deliver actionable retention strategies.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2166342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6,418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1603697" y="281128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Total Customers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0553" y="2166342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1,732</a:t>
            </a:r>
            <a:endParaRPr lang="en-US" sz="3650" dirty="0"/>
          </a:p>
        </p:txBody>
      </p:sp>
      <p:sp>
        <p:nvSpPr>
          <p:cNvPr id="9" name="Text 7"/>
          <p:cNvSpPr/>
          <p:nvPr/>
        </p:nvSpPr>
        <p:spPr>
          <a:xfrm>
            <a:off x="5768206" y="281128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Churned Customers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6119" y="3387105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27%</a:t>
            </a:r>
            <a:endParaRPr lang="en-US" sz="3650" dirty="0"/>
          </a:p>
        </p:txBody>
      </p:sp>
      <p:sp>
        <p:nvSpPr>
          <p:cNvPr id="11" name="Text 9"/>
          <p:cNvSpPr/>
          <p:nvPr/>
        </p:nvSpPr>
        <p:spPr>
          <a:xfrm>
            <a:off x="1603697" y="403205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Overall Churn Rate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60553" y="3387105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84%</a:t>
            </a:r>
            <a:endParaRPr lang="en-US" sz="3650" dirty="0"/>
          </a:p>
        </p:txBody>
      </p:sp>
      <p:sp>
        <p:nvSpPr>
          <p:cNvPr id="13" name="Text 11"/>
          <p:cNvSpPr/>
          <p:nvPr/>
        </p:nvSpPr>
        <p:spPr>
          <a:xfrm>
            <a:off x="5768206" y="403205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Model Accuracy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6119" y="441297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Technologies: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SQL · Python · Scikit-Learn · Power BI</a:t>
            </a:r>
            <a:endParaRPr lang="en-US" sz="1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38804A-0A0D-1D13-7FCA-13B4208E4356}"/>
              </a:ext>
            </a:extLst>
          </p:cNvPr>
          <p:cNvSpPr/>
          <p:nvPr/>
        </p:nvSpPr>
        <p:spPr>
          <a:xfrm>
            <a:off x="7160458" y="4811539"/>
            <a:ext cx="1944624" cy="298704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4429"/>
            <a:ext cx="852339" cy="227558"/>
          </a:xfrm>
          <a:prstGeom prst="roundRect">
            <a:avLst>
              <a:gd name="adj" fmla="val 6425"/>
            </a:avLst>
          </a:prstGeom>
          <a:noFill/>
          <a:ln w="4763">
            <a:solidFill>
              <a:srgbClr val="D3C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3956" y="475729"/>
            <a:ext cx="1153864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75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FINDINGS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703808"/>
            <a:ext cx="4542011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Who Is Leaving — and Why</a:t>
            </a:r>
            <a:endParaRPr lang="en-US" sz="2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59247"/>
            <a:ext cx="3927277" cy="28268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25367" y="1346150"/>
            <a:ext cx="198864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Top 5 Churn Drivers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725367" y="1654225"/>
            <a:ext cx="274067" cy="274067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</p:sp>
      <p:sp>
        <p:nvSpPr>
          <p:cNvPr id="8" name="Text 5"/>
          <p:cNvSpPr/>
          <p:nvPr/>
        </p:nvSpPr>
        <p:spPr>
          <a:xfrm>
            <a:off x="4771020" y="1677033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104061" y="1696045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Contract Type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25367" y="2137618"/>
            <a:ext cx="274067" cy="274067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</p:sp>
      <p:sp>
        <p:nvSpPr>
          <p:cNvPr id="11" name="Text 8"/>
          <p:cNvSpPr/>
          <p:nvPr/>
        </p:nvSpPr>
        <p:spPr>
          <a:xfrm>
            <a:off x="4771020" y="2160426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104061" y="2179439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25367" y="2621012"/>
            <a:ext cx="274067" cy="274067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</p:sp>
      <p:sp>
        <p:nvSpPr>
          <p:cNvPr id="14" name="Text 11"/>
          <p:cNvSpPr/>
          <p:nvPr/>
        </p:nvSpPr>
        <p:spPr>
          <a:xfrm>
            <a:off x="4771020" y="2643820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104061" y="2662833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Total Charges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725367" y="3104406"/>
            <a:ext cx="274067" cy="274067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</p:sp>
      <p:sp>
        <p:nvSpPr>
          <p:cNvPr id="17" name="Text 14"/>
          <p:cNvSpPr/>
          <p:nvPr/>
        </p:nvSpPr>
        <p:spPr>
          <a:xfrm>
            <a:off x="4771020" y="3127214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104061" y="3146227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Monthly Charges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725367" y="3587800"/>
            <a:ext cx="274067" cy="274067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</p:sp>
      <p:sp>
        <p:nvSpPr>
          <p:cNvPr id="20" name="Text 17"/>
          <p:cNvSpPr/>
          <p:nvPr/>
        </p:nvSpPr>
        <p:spPr>
          <a:xfrm>
            <a:off x="4771020" y="3610608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104061" y="3629620"/>
            <a:ext cx="171472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Long Distance Charges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725367" y="3979590"/>
            <a:ext cx="3927277" cy="611684"/>
          </a:xfrm>
          <a:prstGeom prst="roundRect">
            <a:avLst>
              <a:gd name="adj" fmla="val 2988"/>
            </a:avLst>
          </a:prstGeom>
          <a:solidFill>
            <a:srgbClr val="B6D6FC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7183" y="4149030"/>
            <a:ext cx="152251" cy="12181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121250" y="4104233"/>
            <a:ext cx="3409578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insight:</a:t>
            </a: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Over 35% of predicted future churners are aged 50+, and competition is the leading reason customers leave.</a:t>
            </a:r>
            <a:endParaRPr lang="en-US" sz="9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F72337-15E2-367A-3785-69C119381979}"/>
              </a:ext>
            </a:extLst>
          </p:cNvPr>
          <p:cNvSpPr/>
          <p:nvPr/>
        </p:nvSpPr>
        <p:spPr>
          <a:xfrm>
            <a:off x="7160458" y="4811539"/>
            <a:ext cx="1944624" cy="298704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029" y="395511"/>
            <a:ext cx="1021705" cy="168325"/>
          </a:xfrm>
          <a:prstGeom prst="roundRect">
            <a:avLst>
              <a:gd name="adj" fmla="val 7106"/>
            </a:avLst>
          </a:prstGeom>
          <a:solidFill>
            <a:srgbClr val="ECE6DF"/>
          </a:solidFill>
          <a:ln/>
        </p:spPr>
      </p:sp>
      <p:sp>
        <p:nvSpPr>
          <p:cNvPr id="3" name="Text 1"/>
          <p:cNvSpPr/>
          <p:nvPr/>
        </p:nvSpPr>
        <p:spPr>
          <a:xfrm>
            <a:off x="1192783" y="425351"/>
            <a:ext cx="1359396" cy="10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RETENTION STRATEGY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1133029" y="591815"/>
            <a:ext cx="4323159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Five Priorities to Reduce Churn</a:t>
            </a:r>
            <a:endParaRPr lang="en-US" sz="1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029" y="1008385"/>
            <a:ext cx="6877869" cy="5980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1885" y="1213991"/>
            <a:ext cx="14949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616050" y="1122313"/>
            <a:ext cx="185692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Reduce Contract-Based Churn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616050" y="1320031"/>
            <a:ext cx="6280919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Incentivize annual plan upgrades with discounts and early renewal offers.</a:t>
            </a:r>
            <a:endParaRPr lang="en-US" sz="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029" y="1676474"/>
            <a:ext cx="6877869" cy="59806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71885" y="1882080"/>
            <a:ext cx="14949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1616050" y="1790402"/>
            <a:ext cx="1964903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Improve Fiber Optic Experience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616050" y="1988121"/>
            <a:ext cx="6280919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Address service complaints and outages; launch targeted satisfaction surveys.</a:t>
            </a:r>
            <a:endParaRPr lang="en-US" sz="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029" y="2344564"/>
            <a:ext cx="6877869" cy="59806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71885" y="2550170"/>
            <a:ext cx="14949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3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1616050" y="2458492"/>
            <a:ext cx="1803276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Retain High-Risk Age Groups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1616050" y="2656210"/>
            <a:ext cx="6280919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Deploy personalized loyalty campaigns for customers aged 50+.</a:t>
            </a:r>
            <a:endParaRPr lang="en-US" sz="7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029" y="3012653"/>
            <a:ext cx="6877869" cy="59806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71885" y="3218259"/>
            <a:ext cx="14949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4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1616050" y="3126581"/>
            <a:ext cx="1869877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Protect High-Value Customers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1616050" y="3324299"/>
            <a:ext cx="6280919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Prioritize model-identified at-risk customers with revenue-based retention offers.</a:t>
            </a:r>
            <a:endParaRPr lang="en-US" sz="7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029" y="3680743"/>
            <a:ext cx="6877869" cy="59806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71885" y="3886349"/>
            <a:ext cx="14949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5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1616050" y="3794671"/>
            <a:ext cx="204274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Strengthen Long-Term Retention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1616050" y="3992389"/>
            <a:ext cx="6280919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Reward customers with 24+ months tenure through loyalty programs and exclusive benefits.</a:t>
            </a:r>
            <a:endParaRPr lang="en-US" sz="750" dirty="0"/>
          </a:p>
        </p:txBody>
      </p:sp>
      <p:sp>
        <p:nvSpPr>
          <p:cNvPr id="25" name="Shape 18"/>
          <p:cNvSpPr/>
          <p:nvPr/>
        </p:nvSpPr>
        <p:spPr>
          <a:xfrm>
            <a:off x="1133029" y="4357613"/>
            <a:ext cx="6877869" cy="311572"/>
          </a:xfrm>
          <a:prstGeom prst="roundRect">
            <a:avLst>
              <a:gd name="adj" fmla="val 4799"/>
            </a:avLst>
          </a:prstGeom>
          <a:solidFill>
            <a:srgbClr val="B6FCB8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669" y="4490145"/>
            <a:ext cx="124569" cy="996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456879" y="4445496"/>
            <a:ext cx="6911578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Expected Impact:</a:t>
            </a:r>
            <a:r>
              <a:rPr lang="en-US" sz="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Lower churn, higher CLV, improved satisfaction, and stronger revenue stability.</a:t>
            </a:r>
            <a:endParaRPr lang="en-US" sz="7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A1306A-A819-2C7B-F394-6A663473F270}"/>
              </a:ext>
            </a:extLst>
          </p:cNvPr>
          <p:cNvSpPr/>
          <p:nvPr/>
        </p:nvSpPr>
        <p:spPr>
          <a:xfrm>
            <a:off x="7160458" y="4811539"/>
            <a:ext cx="1944624" cy="298704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207</Words>
  <Application>Microsoft Office PowerPoint</Application>
  <PresentationFormat>On-screen Show (16:9)</PresentationFormat>
  <Paragraphs>47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Gelasio</vt:lpstr>
      <vt:lpstr>Gelasio SemiBold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Subhanu Dhar</cp:lastModifiedBy>
  <cp:revision>2</cp:revision>
  <dcterms:created xsi:type="dcterms:W3CDTF">2026-06-21T02:08:35Z</dcterms:created>
  <dcterms:modified xsi:type="dcterms:W3CDTF">2026-06-21T02:10:28Z</dcterms:modified>
</cp:coreProperties>
</file>